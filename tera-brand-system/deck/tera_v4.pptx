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SÃO PAULO</a:t>
            </a:r>
            <a:endParaRPr lang="en-US" sz="1000" dirty="0"/>
          </a:p>
        </p:txBody>
      </p:sp>
      <p:pic>
        <p:nvPicPr>
          <p:cNvPr id="4" name="Image 0" descr="assets3/wm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9836" y="2148840"/>
            <a:ext cx="5669280" cy="22375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Identidade, primeira rodada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28432" y="6144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FORCE, AGOSTO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900" dirty="0"/>
          </a:p>
        </p:txBody>
      </p:sp>
      <p:pic>
        <p:nvPicPr>
          <p:cNvPr id="5" name="Image 0" descr="assets4/idx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95175"/>
            <a:ext cx="4556939" cy="651913"/>
          </a:xfrm>
          <a:prstGeom prst="rect">
            <a:avLst/>
          </a:prstGeom>
        </p:spPr>
      </p:pic>
      <p:pic>
        <p:nvPicPr>
          <p:cNvPr id="6" name="Image 1" descr="assets4/idx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1506"/>
            <a:ext cx="4602121" cy="522822"/>
          </a:xfrm>
          <a:prstGeom prst="rect">
            <a:avLst/>
          </a:prstGeom>
        </p:spPr>
      </p:pic>
      <p:pic>
        <p:nvPicPr>
          <p:cNvPr id="7" name="Image 2" descr="assets4/idx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78746"/>
            <a:ext cx="3846935" cy="522822"/>
          </a:xfrm>
          <a:prstGeom prst="rect">
            <a:avLst/>
          </a:prstGeom>
        </p:spPr>
      </p:pic>
      <p:pic>
        <p:nvPicPr>
          <p:cNvPr id="8" name="Image 3" descr="assets4/idx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5986"/>
            <a:ext cx="3892117" cy="522822"/>
          </a:xfrm>
          <a:prstGeom prst="rect">
            <a:avLst/>
          </a:prstGeom>
        </p:spPr>
      </p:pic>
      <p:pic>
        <p:nvPicPr>
          <p:cNvPr id="9" name="Image 4" descr="assets4/idx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97680"/>
            <a:ext cx="4834487" cy="658368"/>
          </a:xfrm>
          <a:prstGeom prst="rect">
            <a:avLst/>
          </a:prstGeom>
        </p:spPr>
      </p:pic>
      <p:pic>
        <p:nvPicPr>
          <p:cNvPr id="10" name="Image 5" descr="assets4/idx_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5210466"/>
            <a:ext cx="3550024" cy="522822"/>
          </a:xfrm>
          <a:prstGeom prst="rect">
            <a:avLst/>
          </a:prstGeom>
        </p:spPr>
      </p:pic>
      <p:pic>
        <p:nvPicPr>
          <p:cNvPr id="11" name="Image 6" descr="assets4/idx_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858615"/>
            <a:ext cx="6790227" cy="651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CONCEITO</a:t>
            </a:r>
            <a:endParaRPr lang="en-US" sz="900" dirty="0"/>
          </a:p>
        </p:txBody>
      </p:sp>
      <p:pic>
        <p:nvPicPr>
          <p:cNvPr id="5" name="Image 0" descr="assets4/t_conce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63040"/>
            <a:ext cx="7132320" cy="16381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9560" y="1508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é uma caixa de superposição: fechada, contém todos os mundos possíveis ao mesmo tempo. Abrir a sala é escolher um. Cada espetáculo é um estado da Téra que se manifesta quando ela abre.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095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caixa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09560" y="4041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sala: um volume preto de LED contínuo que contém mundos.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095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observação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09560" y="4910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é o gesto da marca. A plataforma verbal e a física são a mesma frase.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magnitude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09560" y="5779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Tera, o prefixo da escala. O extraordinário que cabe dentro da caixa.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WORDMARK</a:t>
            </a:r>
            <a:endParaRPr lang="en-US" sz="900" dirty="0"/>
          </a:p>
        </p:txBody>
      </p:sp>
      <p:pic>
        <p:nvPicPr>
          <p:cNvPr id="5" name="Image 0" descr="assets4/t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4846320" cy="1504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ESBOÇO DO BRIEFING</a:t>
            </a:r>
            <a:endParaRPr lang="en-US" sz="900" dirty="0"/>
          </a:p>
        </p:txBody>
      </p:sp>
      <p:pic>
        <p:nvPicPr>
          <p:cNvPr id="7" name="Image 1" descr="assets2/wordmark_black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02920" y="3703320"/>
            <a:ext cx="2926080" cy="12660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056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REDESENHO</a:t>
            </a:r>
            <a:endParaRPr lang="en-US" sz="900" dirty="0"/>
          </a:p>
        </p:txBody>
      </p:sp>
      <p:pic>
        <p:nvPicPr>
          <p:cNvPr id="9" name="Image 2" descr="assets3/wm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11880"/>
            <a:ext cx="5212080" cy="20570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Monoline com modulação óptica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02920" y="5824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Traço único recalibrado nas junções pra ler limpo de 12 px ao painel.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34340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Ligadura resolvida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343400" y="5824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olho do é e o acento se separam: a letra lê, o gesto permanece.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18388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vertical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183880" y="5824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reto vira a assinatura da marca e o gatilho de todo o sistema.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WORDMARK</a:t>
            </a:r>
            <a:endParaRPr lang="en-US" sz="900" dirty="0"/>
          </a:p>
        </p:txBody>
      </p:sp>
      <p:pic>
        <p:nvPicPr>
          <p:cNvPr id="5" name="Image 0" descr="assets4/t_constr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852160" cy="1567297"/>
          </a:xfrm>
          <a:prstGeom prst="rect">
            <a:avLst/>
          </a:prstGeom>
        </p:spPr>
      </p:pic>
      <p:pic>
        <p:nvPicPr>
          <p:cNvPr id="6" name="Image 1" descr="assets3/constr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926080"/>
            <a:ext cx="9601200" cy="3424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6172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curvas nascem de quatro círculos e uma régua de alturas. O acento vive numa faixa própria acima da ascendente: presença garantida em qualquer escala.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pic>
        <p:nvPicPr>
          <p:cNvPr id="4" name="Image 0" descr="assets3/w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946902"/>
            <a:ext cx="6583680" cy="2598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89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WORDMARK EM NEGATIVO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SÍMBOLO</a:t>
            </a:r>
            <a:endParaRPr lang="en-US" sz="900" dirty="0"/>
          </a:p>
        </p:txBody>
      </p:sp>
      <p:pic>
        <p:nvPicPr>
          <p:cNvPr id="5" name="Image 0" descr="assets4/t_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80160"/>
            <a:ext cx="4572000" cy="15535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é isolado vira o símbolo da Téra. Funciona onde o wordmark não cabe: ícone, carimbo, sinalização, canhoto de ingresso. É a assinatura mínima da caixa.</a:t>
            </a:r>
            <a:endParaRPr lang="en-US" sz="1250" dirty="0"/>
          </a:p>
        </p:txBody>
      </p:sp>
      <p:pic>
        <p:nvPicPr>
          <p:cNvPr id="7" name="Image 1" descr="assets3/monogram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2286000" cy="41654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25712" y="1399032"/>
            <a:ext cx="2414016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2" descr="assets4/ap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417320"/>
            <a:ext cx="2377440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0" y="3867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de 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LOCKUPS E USO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COM DESCRITOR</a:t>
            </a:r>
            <a:endParaRPr lang="en-US" sz="900" dirty="0"/>
          </a:p>
        </p:txBody>
      </p:sp>
      <p:pic>
        <p:nvPicPr>
          <p:cNvPr id="6" name="Image 0" descr="assets4/lockup_desc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206240" cy="1872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051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PROTEÇÃO</a:t>
            </a:r>
            <a:endParaRPr lang="en-US" sz="900" dirty="0"/>
          </a:p>
        </p:txBody>
      </p:sp>
      <p:pic>
        <p:nvPicPr>
          <p:cNvPr id="8" name="Image 1" descr="assets4/clear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120640" cy="29062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TAMANHOS MÍNIMOS</a:t>
            </a:r>
            <a:endParaRPr lang="en-US" sz="900" dirty="0"/>
          </a:p>
        </p:txBody>
      </p:sp>
      <p:pic>
        <p:nvPicPr>
          <p:cNvPr id="10" name="Image 2" descr="assets4/minsiz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6035040" cy="2201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SISTEMA</a:t>
            </a:r>
            <a:endParaRPr lang="en-US" sz="900" dirty="0"/>
          </a:p>
        </p:txBody>
      </p:sp>
      <p:pic>
        <p:nvPicPr>
          <p:cNvPr id="5" name="Image 0" descr="assets4/t_pl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3840480" cy="765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DEVICE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33832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retângulo na proporção exata do painel da sala. Ele contém, corta e revela: imagem e conteúdo só existem dentro do Plano, tipografia muda de cor ao atravessar. Antes do conteúdo, o Plano é um void preto: o palco apagado.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5394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Fechada, a caixa é um void preto: todos os estados ao mesmo tempo. Em motion, ela abre por fresta e resolve num mundo. A proporção final trava na spec do painel.</a:t>
            </a:r>
            <a:endParaRPr lang="en-US" sz="1150" dirty="0"/>
          </a:p>
        </p:txBody>
      </p:sp>
      <p:pic>
        <p:nvPicPr>
          <p:cNvPr id="10" name="Image 1" descr="assets3/diag_pla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852160" cy="3344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SISTEMA</a:t>
            </a:r>
            <a:endParaRPr lang="en-US" sz="900" dirty="0"/>
          </a:p>
        </p:txBody>
      </p:sp>
      <p:pic>
        <p:nvPicPr>
          <p:cNvPr id="5" name="Image 0" descr="assets4/t_p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5120640" cy="1426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611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3931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Neo-grotesk como base do programa (Space Grotesk nesta rodada), metadados tratados como matéria gráfica. Na fase de identidade, avaliamos cortar uma Téra Sans derivada do DNA do wordmark.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3611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3931920"/>
            <a:ext cx="77724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4764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69480" y="39319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4764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83880" y="3931920"/>
            <a:ext cx="777240" cy="777240"/>
          </a:xfrm>
          <a:prstGeom prst="rect">
            <a:avLst/>
          </a:prstGeom>
          <a:solidFill>
            <a:srgbClr val="2CF5A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4764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fósforo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5120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Preto, branco e uma assinatura só. O fósforo é a luz de dentro da caixa: o sinal de aberta, links, a fresta. Cor de verdade é papel do estado dentro da caixa.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SISTEMA, VOZ</a:t>
            </a:r>
            <a:endParaRPr lang="en-US" sz="900" dirty="0"/>
          </a:p>
        </p:txBody>
      </p:sp>
      <p:pic>
        <p:nvPicPr>
          <p:cNvPr id="5" name="Image 0" descr="assets4/t_vo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81328"/>
            <a:ext cx="5394960" cy="7062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377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verbo só carrega a marca, e ele é o ato de observação da caixa: abrir é escolher um mundo. A plataforma flexiona do institucional ao coloquial sem trocar de voz, e cada estado, data e programa entra na frase.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abre dimensões.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029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abre temporada.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6883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abre: Estado 001.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33467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abre dia 18, às 21h.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40050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Téra abre pra você.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0" y="4663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Abriu a Téra.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4480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no presente. Sempre a Téra como sujeito. O nome nunca conjuga sozinho: quem abre é a sala, a obra entra depois dos dois pontos. Bilíngue quando o público pede: Téra opens.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</a:t>
            </a:r>
            <a:endParaRPr lang="en-US" sz="900" dirty="0"/>
          </a:p>
        </p:txBody>
      </p:sp>
      <p:pic>
        <p:nvPicPr>
          <p:cNvPr id="5" name="Image 0" descr="assets4/t_aplic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103120"/>
            <a:ext cx="5120640" cy="2003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6634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Poster, OOH, ingresso, social, site, ícone e sinalização: o mesmo sistema, sem exceções. O que muda é o conteúdo; o que segura é o Plano, o acento e a régua tipográfica.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POSTER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536192" y="1124712"/>
            <a:ext cx="3739896" cy="4974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4/ap_poster_v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143000"/>
            <a:ext cx="370332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61539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Temporada, positivo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31152" y="1124712"/>
            <a:ext cx="3739896" cy="4974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ssets4/ap_poster_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43000"/>
            <a:ext cx="3703320" cy="4937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61539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Institucional, negativo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A SÉRIE</a:t>
            </a:r>
            <a:endParaRPr lang="en-US" sz="900" dirty="0"/>
          </a:p>
        </p:txBody>
      </p:sp>
      <p:pic>
        <p:nvPicPr>
          <p:cNvPr id="5" name="Image 0" descr="assets4/t_es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14400"/>
            <a:ext cx="3108960" cy="10660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10512" y="2267712"/>
            <a:ext cx="8540496" cy="370733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assets4/estados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8503920" cy="3670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6029909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moldura, estados diferentes: a superposição como sistema editorial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layout nunca muda. O que muda é o estado dentro da caixa.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OOH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90472" y="1856232"/>
            <a:ext cx="9180576" cy="42275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4/ap_oo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74520"/>
            <a:ext cx="9144000" cy="419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613867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tipografia atravessa o Plano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INGRESSO E SOCIAL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33472" y="1078992"/>
            <a:ext cx="6894576" cy="2779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4/ap_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097280"/>
            <a:ext cx="685800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39136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490472" y="4187952"/>
            <a:ext cx="9180576" cy="30039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ssets4/ap_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206240"/>
            <a:ext cx="9144000" cy="29674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72467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anúncio, obra, ao vivo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DIGITAL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21992" y="1216152"/>
            <a:ext cx="7717536" cy="4837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4/ap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234440"/>
            <a:ext cx="768096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61081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tera.art.br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AMBIENTE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359152" y="1170432"/>
            <a:ext cx="2459736" cy="5025435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4/ap_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2423160" cy="49888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625073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Sinalização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73952" y="1673352"/>
            <a:ext cx="3328416" cy="33284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ssets4/a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329184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50566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A SALA</a:t>
            </a:r>
            <a:endParaRPr lang="en-US" sz="900" dirty="0"/>
          </a:p>
        </p:txBody>
      </p:sp>
      <p:pic>
        <p:nvPicPr>
          <p:cNvPr id="5" name="Image 0" descr="assets4/sala_com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960120"/>
            <a:ext cx="9006840" cy="507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172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na sala: a caixa quase apagada, a primeira luz atravessando o conteúdo.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APLICAÇÕES, A SALA</a:t>
            </a:r>
            <a:endParaRPr lang="en-US" sz="900" dirty="0"/>
          </a:p>
        </p:txBody>
      </p:sp>
      <p:pic>
        <p:nvPicPr>
          <p:cNvPr id="5" name="Image 0" descr="assets4/sala_comp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577840" cy="31445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5450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tipografia em escala de sala</a:t>
            </a:r>
            <a:endParaRPr lang="en-US" sz="1000" dirty="0"/>
          </a:p>
        </p:txBody>
      </p:sp>
      <p:pic>
        <p:nvPicPr>
          <p:cNvPr id="7" name="Image 1" descr="assets4/sala_com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577840" cy="31445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85450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emoldura a obra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MOTION</a:t>
            </a:r>
            <a:endParaRPr lang="en-US" sz="900" dirty="0"/>
          </a:p>
        </p:txBody>
      </p:sp>
      <p:pic>
        <p:nvPicPr>
          <p:cNvPr id="5" name="Image 0" descr="assets4/t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669280" cy="1244181"/>
          </a:xfrm>
          <a:prstGeom prst="rect">
            <a:avLst/>
          </a:prstGeom>
        </p:spPr>
      </p:pic>
      <p:pic>
        <p:nvPicPr>
          <p:cNvPr id="6" name="Image 1" descr="assets4/story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0"/>
            <a:ext cx="11201400" cy="24452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5897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caixa é a origem de todo movimento: fechada, fresta, aberta, habitada, assinada. Nada aparece por fade ou corte: todo estado é revelado por abertura. Easing seco, paralaxe como única regra de profundidade, nada gira em 3D, nada tem textura.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PROGRAMA DE CONTEÚDO</a:t>
            </a:r>
            <a:endParaRPr lang="en-US" sz="900" dirty="0"/>
          </a:p>
        </p:txBody>
      </p:sp>
      <p:pic>
        <p:nvPicPr>
          <p:cNvPr id="5" name="Image 0" descr="assets4/t_conte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4572000" cy="1488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66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identidade é preta, branca e precisa de propósito: quem traz cor, imagem e matéria é o conteúdo, sempre dentro da caixa. A cada temporada a Téra comissiona um estado novo, de artistas do Sul Global, e o sistema o emoldura sem competir com ele.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identidade é a caixa. O estado é o espetáculo.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834640"/>
            <a:ext cx="5394960" cy="1517333"/>
          </a:xfrm>
          <a:prstGeom prst="rect">
            <a:avLst/>
          </a:prstGeom>
          <a:solidFill>
            <a:srgbClr val="0A0A0C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38490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001, em breve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63640" y="448913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antes do conteúdo: o palco apagado.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PRÓXIMOS PASSOS</a:t>
            </a:r>
            <a:endParaRPr lang="en-US" sz="900" dirty="0"/>
          </a:p>
        </p:txBody>
      </p:sp>
      <p:pic>
        <p:nvPicPr>
          <p:cNvPr id="5" name="Image 0" descr="assets4/t_n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80160"/>
            <a:ext cx="6035040" cy="14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do sistema nesta rodada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74136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374136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74136" y="4434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final, Téra Sans, sistema gráfico e verbal completo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45352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45352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45352" y="4434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 acento em motion, toolkit de temporada, Obra 001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16568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116568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Brandbook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16568" y="4434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sistema: o estático e as regras do vivo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2026-08-13T00:00:10Z</dcterms:created>
  <dcterms:modified xsi:type="dcterms:W3CDTF">2026-08-13T00:00:10Z</dcterms:modified>
</cp:coreProperties>
</file>